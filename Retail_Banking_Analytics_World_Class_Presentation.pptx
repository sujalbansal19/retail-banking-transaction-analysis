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91"/>
                </a:solidFill>
                <a:latin typeface="Aptos"/>
              </a:defRPr>
            </a:pPr>
            <a:r>
              <a:t>DATA ANALYTICS •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RETAIL BANKING</a:t>
            </a:r>
            <a:br/>
            <a:r>
              <a:t>TRANSACTION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231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3E0EB"/>
                </a:solidFill>
                <a:latin typeface="Aptos"/>
              </a:defRPr>
            </a:pPr>
            <a:r>
              <a:t>From Python Data Analysis to Power BI Business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03320"/>
            <a:ext cx="2423160" cy="1143000"/>
          </a:xfrm>
          <a:prstGeom prst="roundRect">
            <a:avLst/>
          </a:prstGeom>
          <a:solidFill>
            <a:srgbClr val="162E4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849624"/>
            <a:ext cx="73152" cy="850392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4962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TRANSACTION 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7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2.37M+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53712"/>
            <a:ext cx="2011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2,377,169 rows × 8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3703320"/>
            <a:ext cx="2057400" cy="1143000"/>
          </a:xfrm>
          <a:prstGeom prst="roundRect">
            <a:avLst/>
          </a:prstGeom>
          <a:solidFill>
            <a:srgbClr val="162E4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9856" y="3849624"/>
            <a:ext cx="73152" cy="850392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38496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4133087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45537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customer profiles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3703320"/>
            <a:ext cx="2057400" cy="1143000"/>
          </a:xfrm>
          <a:prstGeom prst="roundRect">
            <a:avLst/>
          </a:prstGeom>
          <a:solidFill>
            <a:srgbClr val="162E4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41848" y="3849624"/>
            <a:ext cx="73152" cy="850392"/>
          </a:xfrm>
          <a:prstGeom prst="roundRect">
            <a:avLst/>
          </a:prstGeom>
          <a:solidFill>
            <a:srgbClr val="2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4728" y="38496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4728" y="4133087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3,553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45537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bank accounts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54112" y="3703320"/>
            <a:ext cx="2057400" cy="1143000"/>
          </a:xfrm>
          <a:prstGeom prst="roundRect">
            <a:avLst/>
          </a:prstGeom>
          <a:solidFill>
            <a:srgbClr val="162E4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0" y="3849624"/>
            <a:ext cx="73152" cy="850392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8496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133087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2020–25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5537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six-year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7150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D2E1"/>
                </a:solidFill>
                <a:latin typeface="Aptos"/>
              </a:defRPr>
            </a:pPr>
            <a:r>
              <a:t>Sujal Bansal  |  Python • Pandas • Power BI • DAX • Business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B91"/>
                </a:solidFill>
                <a:latin typeface="Aptos"/>
              </a:defRPr>
            </a:pPr>
            <a:r>
              <a:t>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A single analytical story connecting customer value, portfolio exposure and transaction behaviour.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2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1F37"/>
                </a:solidFill>
                <a:latin typeface="Aptos"/>
              </a:defRPr>
            </a:pPr>
            <a:r>
              <a:t>The project converts operational banking data into a decision-support solution using Python for data quality and analysis and Power BI for interactive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246120" cy="141732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2569464"/>
            <a:ext cx="73152" cy="1124712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69464"/>
            <a:ext cx="2834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52928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2.37M+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47872"/>
            <a:ext cx="2834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high-volume transaction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2423160"/>
            <a:ext cx="3246120" cy="141732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2569464"/>
            <a:ext cx="73152" cy="1124712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569464"/>
            <a:ext cx="2834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CUSTOMER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52928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$2.61M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47872"/>
            <a:ext cx="2834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largest relationship identified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52944" y="2423160"/>
            <a:ext cx="3246120" cy="141732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62671" y="2569464"/>
            <a:ext cx="73152" cy="1124712"/>
          </a:xfrm>
          <a:prstGeom prst="roundRect">
            <a:avLst/>
          </a:prstGeom>
          <a:solidFill>
            <a:srgbClr val="2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569464"/>
            <a:ext cx="2834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2852928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$253.98M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47872"/>
            <a:ext cx="2834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documented net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91"/>
                </a:solidFill>
                <a:latin typeface="Aptos"/>
              </a:defRPr>
            </a:pPr>
            <a:r>
              <a:t>WHAT MANAGEMENT CAN 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17720"/>
            <a:ext cx="41148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6634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B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60857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442"/>
                </a:solidFill>
                <a:latin typeface="Aptos"/>
              </a:defRPr>
            </a:pPr>
            <a:r>
              <a:t>Segment high-value and multi-account customers for retention and cross-sell.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120640"/>
            <a:ext cx="41148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166359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B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11149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442"/>
                </a:solidFill>
                <a:latin typeface="Aptos"/>
              </a:defRPr>
            </a:pPr>
            <a:r>
              <a:t>Monitor CASA, TD and loan exposure together rather than in isolation.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23560"/>
            <a:ext cx="41148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6692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B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1441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442"/>
                </a:solidFill>
                <a:latin typeface="Aptos"/>
              </a:defRPr>
            </a:pPr>
            <a:r>
              <a:t>Use channel, amount-band and time behaviour to guide transaction strategy.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supplied notebooks, PBIX documentation and project materials.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Raw banking data is fragmented across customer, account and transaction layers.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749039" cy="4343400"/>
          </a:xfrm>
          <a:prstGeom prst="roundRect">
            <a:avLst/>
          </a:prstGeom>
          <a:solidFill>
            <a:srgbClr val="0C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91"/>
                </a:solidFill>
                <a:latin typeface="Aptos"/>
              </a:defRPr>
            </a:pPr>
            <a:r>
              <a:t>THE MANAGEMENT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t>Management needs one view of</a:t>
            </a:r>
            <a:br/>
            <a:r>
              <a:t>customer relationships,</a:t>
            </a:r>
            <a:br/>
            <a:r>
              <a:t>portfolio exposure and</a:t>
            </a:r>
            <a:br/>
            <a:r>
              <a:t>transaction behaviour.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DDCE8"/>
                </a:solidFill>
                <a:latin typeface="Aptos"/>
              </a:defRPr>
            </a:pPr>
            <a:r>
              <a:t>The analytical solution must validate the data first, then translate it into reusable KPIs and interactive 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508760"/>
            <a:ext cx="640080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64608" y="1655063"/>
            <a:ext cx="73152" cy="576071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1655063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938528"/>
            <a:ext cx="5989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Who are the customers?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2084831"/>
            <a:ext cx="5989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Who drives relationship value?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587752"/>
            <a:ext cx="640080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64608" y="2734056"/>
            <a:ext cx="73152" cy="576071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273405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3017520"/>
            <a:ext cx="5989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What is the portfolio mix?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3163824"/>
            <a:ext cx="5989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How are deposits and credit positioned?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666744"/>
            <a:ext cx="640080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64608" y="3813048"/>
            <a:ext cx="73152" cy="576071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3813048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TRANSACTION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4096511"/>
            <a:ext cx="5989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How is money moving?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4242816"/>
            <a:ext cx="5989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Which channels, codes and periods matter?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4745736"/>
            <a:ext cx="640080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8" y="4892040"/>
            <a:ext cx="73152" cy="576071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4892040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EXECUTIVE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5175503"/>
            <a:ext cx="5989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Can this be monitored?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5321807"/>
            <a:ext cx="5989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Can management drill from KPI to detail?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project documentation — business problem and dashboard purpose.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Data Architecture &amp;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A relational structure keeps customer, account and transaction analysis connected.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011680" cy="960120"/>
          </a:xfrm>
          <a:prstGeom prst="roundRect">
            <a:avLst/>
          </a:prstGeom>
          <a:solidFill>
            <a:srgbClr val="E0F1F5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73351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1F37"/>
                </a:solidFill>
                <a:latin typeface="Aptos"/>
              </a:defRPr>
            </a:pPr>
            <a:r>
              <a:t>CUSTOMER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11680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2"/>
                </a:solidFill>
                <a:latin typeface="Aptos"/>
              </a:defRPr>
            </a:pPr>
            <a:r>
              <a:t>1,000 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508760"/>
            <a:ext cx="2011680" cy="960120"/>
          </a:xfrm>
          <a:prstGeom prst="roundRect">
            <a:avLst/>
          </a:prstGeom>
          <a:solidFill>
            <a:srgbClr val="E0F1F5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673351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1F37"/>
                </a:solidFill>
                <a:latin typeface="Aptos"/>
              </a:defRPr>
            </a:pPr>
            <a:r>
              <a:t>BANK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011680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2"/>
                </a:solidFill>
                <a:latin typeface="Aptos"/>
              </a:defRPr>
            </a:pPr>
            <a:r>
              <a:t>3,553 accounts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508760"/>
            <a:ext cx="2468880" cy="960120"/>
          </a:xfrm>
          <a:prstGeom prst="roundRect">
            <a:avLst/>
          </a:prstGeom>
          <a:solidFill>
            <a:srgbClr val="E0F1F5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673351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1F37"/>
                </a:solidFill>
                <a:latin typeface="Aptos"/>
              </a:defRPr>
            </a:pPr>
            <a:r>
              <a:t>ACCOUNT 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2011680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2"/>
                </a:solidFill>
                <a:latin typeface="Aptos"/>
              </a:defRPr>
            </a:pPr>
            <a:r>
              <a:t>2,377,169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508760"/>
            <a:ext cx="1554480" cy="960120"/>
          </a:xfrm>
          <a:prstGeom prst="roundRect">
            <a:avLst/>
          </a:prstGeom>
          <a:solidFill>
            <a:srgbClr val="E0F1F5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2407" y="1673351"/>
            <a:ext cx="1335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1F37"/>
                </a:solidFill>
                <a:latin typeface="Aptos"/>
              </a:defRPr>
            </a:pPr>
            <a:r>
              <a:t>TXN CODES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22407" y="2011680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2"/>
                </a:solidFill>
                <a:latin typeface="Aptos"/>
              </a:defRPr>
            </a:pPr>
            <a:r>
              <a:t>15 codes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1993392"/>
            <a:ext cx="960120" cy="0"/>
          </a:xfrm>
          <a:prstGeom prst="line">
            <a:avLst/>
          </a:prstGeom>
          <a:ln w="25400">
            <a:solidFill>
              <a:srgbClr val="00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69280" y="1993392"/>
            <a:ext cx="960120" cy="0"/>
          </a:xfrm>
          <a:prstGeom prst="line">
            <a:avLst/>
          </a:prstGeom>
          <a:ln w="25400">
            <a:solidFill>
              <a:srgbClr val="00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98280" y="1993392"/>
            <a:ext cx="914400" cy="0"/>
          </a:xfrm>
          <a:prstGeom prst="line">
            <a:avLst/>
          </a:prstGeom>
          <a:ln w="25400">
            <a:solidFill>
              <a:srgbClr val="00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28803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91"/>
                </a:solidFill>
                <a:latin typeface="Aptos"/>
              </a:defRPr>
            </a:pPr>
            <a:r>
              <a:t>MODEL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918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1F37"/>
                </a:solidFill>
                <a:latin typeface="Aptos"/>
              </a:defRPr>
            </a:pPr>
            <a:r>
              <a:t>One customer can hold multiple accounts; one account can generate many transactions; transaction codes provide reusable reference attributes.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43400"/>
            <a:ext cx="2514600" cy="114300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4489704"/>
            <a:ext cx="73152" cy="850392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4897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FACT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1937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account_transactions_cleaned</a:t>
            </a:r>
            <a:br/>
            <a:r>
              <a:t>High-volume transactional events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39" y="4343400"/>
            <a:ext cx="2514600" cy="114300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30168" y="4489704"/>
            <a:ext cx="73152" cy="850392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3048" y="44897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3048" y="51937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bank_accounts_cleaned</a:t>
            </a:r>
            <a:br/>
            <a:r>
              <a:t>Balances, products, credit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4343400"/>
            <a:ext cx="2514600" cy="114300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19088" y="4489704"/>
            <a:ext cx="73152" cy="850392"/>
          </a:xfrm>
          <a:prstGeom prst="roundRect">
            <a:avLst/>
          </a:prstGeom>
          <a:solidFill>
            <a:srgbClr val="2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44897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51937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customer_profiles_cleaned</a:t>
            </a:r>
            <a:br/>
            <a:r>
              <a:t>Demographics and segmentation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4343400"/>
            <a:ext cx="2514600" cy="114300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08007" y="4489704"/>
            <a:ext cx="73152" cy="850392"/>
          </a:xfrm>
          <a:prstGeom prst="roundRect">
            <a:avLst/>
          </a:prstGeom>
          <a:solidFill>
            <a:srgbClr val="E1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90888" y="44897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REFERENCE +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0888" y="51937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transaction_codes + DateTable</a:t>
            </a:r>
            <a:br/>
            <a:r>
              <a:t>Codes, fiscal year, quarter, weekday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supplied project documentation and Power BI model description.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Python → Power BI: The Analytical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Python provides the quality and analytical foundation; Power BI turns it into reusable business 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417320" cy="123444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93392"/>
            <a:ext cx="1197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1F37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31720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2"/>
                </a:solidFill>
                <a:latin typeface="Aptos"/>
              </a:defRPr>
            </a:pPr>
            <a:r>
              <a:t>Import four source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647482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21992" y="1828800"/>
            <a:ext cx="1417320" cy="123444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993392"/>
            <a:ext cx="1197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1F37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331720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2"/>
                </a:solidFill>
                <a:latin typeface="Aptos"/>
              </a:defRPr>
            </a:pPr>
            <a:r>
              <a:t>Shape, types, nulls, duplicates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2" y="312724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647482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9624" y="1828800"/>
            <a:ext cx="1417320" cy="123444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1993392"/>
            <a:ext cx="1197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1F37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9352" y="2331720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2"/>
                </a:solidFill>
                <a:latin typeface="Aptos"/>
              </a:defRPr>
            </a:pPr>
            <a:r>
              <a:t>Business rules +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9624" y="312724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647482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7256" y="1828800"/>
            <a:ext cx="1417320" cy="123444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6984" y="1993392"/>
            <a:ext cx="1197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1F37"/>
                </a:solidFill>
                <a:latin typeface="Aptos"/>
              </a:defRPr>
            </a:pPr>
            <a:r>
              <a:t>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6984" y="2331720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2"/>
                </a:solidFill>
                <a:latin typeface="Aptos"/>
              </a:defRPr>
            </a:pPr>
            <a:r>
              <a:t>Age, groups, balances, bands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7256" y="312724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647482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886200"/>
            <a:ext cx="1417320" cy="123444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050791"/>
            <a:ext cx="1197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1F37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389120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2"/>
                </a:solidFill>
                <a:latin typeface="Aptos"/>
              </a:defRPr>
            </a:pPr>
            <a:r>
              <a:t>Customer / account / txn EDA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18464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647482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79" y="3886200"/>
            <a:ext cx="1417320" cy="1234440"/>
          </a:xfrm>
          <a:prstGeom prst="roundRect">
            <a:avLst/>
          </a:prstGeom>
          <a:solidFill>
            <a:srgbClr val="E0F1F5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5808" y="4050791"/>
            <a:ext cx="1197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1F37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5808" y="4389120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2"/>
                </a:solidFill>
                <a:latin typeface="Aptos"/>
              </a:defRPr>
            </a:pPr>
            <a:r>
              <a:t>Measures + DateTable +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79" y="518464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647482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3886200"/>
            <a:ext cx="1417320" cy="1234440"/>
          </a:xfrm>
          <a:prstGeom prst="roundRect">
            <a:avLst/>
          </a:prstGeom>
          <a:solidFill>
            <a:srgbClr val="E0F1F5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67528" y="4050791"/>
            <a:ext cx="1197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1F37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7528" y="4389120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2"/>
                </a:solidFill>
                <a:latin typeface="Aptos"/>
              </a:defRPr>
            </a:pPr>
            <a:r>
              <a:t>Executive KPIs +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518464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647482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623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C1F37"/>
                </a:solidFill>
                <a:latin typeface="Aptos"/>
              </a:defRPr>
            </a:pPr>
            <a:r>
              <a:t>Evidence first → dashboard second → business decision last.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supplied notebooks and project presentation.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Data Quality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Business-aware validation was prioritised over mechanical cleaning.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383280" cy="105156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655063"/>
            <a:ext cx="73152" cy="758951"/>
          </a:xfrm>
          <a:prstGeom prst="roundRect">
            <a:avLst/>
          </a:prstGeom>
          <a:solidFill>
            <a:srgbClr val="25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55063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DUPLICATE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2971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validation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105156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8848" y="1655063"/>
            <a:ext cx="73152" cy="758951"/>
          </a:xfrm>
          <a:prstGeom prst="roundRect">
            <a:avLst/>
          </a:prstGeom>
          <a:solidFill>
            <a:srgbClr val="25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655063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INVALID TXN CODES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193852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267712"/>
            <a:ext cx="2971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validation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508760"/>
            <a:ext cx="3383280" cy="105156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7" y="1655063"/>
            <a:ext cx="73152" cy="758951"/>
          </a:xfrm>
          <a:prstGeom prst="roundRect">
            <a:avLst/>
          </a:prstGeom>
          <a:solidFill>
            <a:srgbClr val="25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7" y="1655063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INVALID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193852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2267712"/>
            <a:ext cx="2971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validation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926080"/>
            <a:ext cx="3383280" cy="105156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8" y="3072384"/>
            <a:ext cx="73152" cy="758951"/>
          </a:xfrm>
          <a:prstGeom prst="roundRect">
            <a:avLst/>
          </a:prstGeom>
          <a:solidFill>
            <a:srgbClr val="25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07238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NEGATIVE AMOUNTS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35584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685031"/>
            <a:ext cx="2971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validation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926080"/>
            <a:ext cx="3383280" cy="105156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98848" y="3072384"/>
            <a:ext cx="73152" cy="758951"/>
          </a:xfrm>
          <a:prstGeom prst="roundRect">
            <a:avLst/>
          </a:prstGeom>
          <a:solidFill>
            <a:srgbClr val="25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307238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OUT-OF-RANGE 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355848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3685031"/>
            <a:ext cx="2971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validation result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572000"/>
            <a:ext cx="10881360" cy="1188720"/>
          </a:xfrm>
          <a:prstGeom prst="roundRect">
            <a:avLst/>
          </a:prstGeom>
          <a:solidFill>
            <a:srgbClr val="FFF9EB"/>
          </a:solidFill>
          <a:ln>
            <a:solidFill>
              <a:srgbClr val="EFD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00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1A041"/>
                </a:solidFill>
                <a:latin typeface="Aptos"/>
              </a:defRPr>
            </a:pPr>
            <a:r>
              <a:t>BUSINESS-DRIVEN NULLS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736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442"/>
                </a:solidFill>
                <a:latin typeface="Aptos"/>
              </a:defRPr>
            </a:pPr>
            <a:r>
              <a:t>Missing linked_transaction_id values were retained where the field was not applicable — not blindly imputed.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cleaning notebook and project documentation; validation results documented in supplied workflow.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Data Challenge: Financial Outliers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The transaction amount distribution is strongly right-skewed — a statistical outlier is not automatically a bad transaction.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91"/>
                </a:solidFill>
                <a:latin typeface="Aptos"/>
              </a:defRPr>
            </a:pPr>
            <a:r>
              <a:t>TRANSACTION AMOUNT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926080"/>
            <a:ext cx="4251960" cy="18288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08760" y="2606040"/>
            <a:ext cx="1417320" cy="640080"/>
          </a:xfrm>
          <a:prstGeom prst="roundRect">
            <a:avLst/>
          </a:prstGeom>
          <a:solidFill>
            <a:srgbClr val="E0F1F5"/>
          </a:solidFill>
          <a:ln>
            <a:solidFill>
              <a:srgbClr val="367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2606040"/>
            <a:ext cx="27432" cy="640080"/>
          </a:xfrm>
          <a:prstGeom prst="rect">
            <a:avLst/>
          </a:prstGeom>
          <a:solidFill>
            <a:srgbClr val="0C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770632"/>
            <a:ext cx="365760" cy="27432"/>
          </a:xfrm>
          <a:prstGeom prst="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2770632"/>
            <a:ext cx="1645920" cy="27432"/>
          </a:xfrm>
          <a:prstGeom prst="rect">
            <a:avLst/>
          </a:prstGeom>
          <a:solidFill>
            <a:srgbClr val="CA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2"/>
                </a:solidFill>
                <a:latin typeface="Aptos"/>
              </a:defRPr>
            </a:pPr>
            <a:r>
              <a:t>Long upper tail → legitimate high-value transactions may exist.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508760"/>
            <a:ext cx="2606040" cy="10972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96128" y="1655063"/>
            <a:ext cx="73152" cy="804671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9008" y="1655063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MEAN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9008" y="193852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$911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23134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documented transaction statistics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508760"/>
            <a:ext cx="2606040" cy="10972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655063"/>
            <a:ext cx="73152" cy="804671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7928" y="1655063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MEDIAN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193852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23134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documented transaction statistics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834640"/>
            <a:ext cx="2606040" cy="10972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96128" y="2980944"/>
            <a:ext cx="73152" cy="804671"/>
          </a:xfrm>
          <a:prstGeom prst="roundRect">
            <a:avLst/>
          </a:prstGeom>
          <a:solidFill>
            <a:srgbClr val="CA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8" y="29809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MAXIMUM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326440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$1.215M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9008" y="363931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documented transaction statistics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2834640"/>
            <a:ext cx="2606040" cy="10972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85048" y="2980944"/>
            <a:ext cx="73152" cy="804671"/>
          </a:xfrm>
          <a:prstGeom prst="roundRect">
            <a:avLst/>
          </a:prstGeom>
          <a:solidFill>
            <a:srgbClr val="E1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67928" y="29809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SKEWNESS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7928" y="326440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58.60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7928" y="363931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high positive skew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4251960"/>
            <a:ext cx="5394960" cy="1234440"/>
          </a:xfrm>
          <a:prstGeom prst="roundRect">
            <a:avLst/>
          </a:prstGeom>
          <a:solidFill>
            <a:srgbClr val="0C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4480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B91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41655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Do not delete extreme values by default.</a:t>
            </a:r>
            <a:br/>
            <a:r>
              <a:t>Use percentile + transaction-code context.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cleaning notebook — skewness, percentile analysis and outlier-treatment rationale.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Feature Engineering: Turning Raw Fields into Business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The analytical model adds segmentation and value-oriented fields before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063240" cy="301752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674BE"/>
                </a:solidFill>
                <a:latin typeface="Aptos"/>
              </a:defRPr>
            </a:pPr>
            <a:r>
              <a:t>CUSTOMER SEGMENTATION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514600"/>
            <a:ext cx="205740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Birth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108960"/>
            <a:ext cx="205740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154679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→ 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703320"/>
            <a:ext cx="205740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49039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→ Age Group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1600200"/>
            <a:ext cx="3063240" cy="301752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8288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B91"/>
                </a:solidFill>
                <a:latin typeface="Aptos"/>
              </a:defRPr>
            </a:pPr>
            <a:r>
              <a:t>CUSTOMER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514600"/>
            <a:ext cx="205740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56032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Account Balances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108960"/>
            <a:ext cx="205740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154679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→ Group by customer_id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703320"/>
            <a:ext cx="205740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749039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→ Total Customer Balance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1600200"/>
            <a:ext cx="3063240" cy="301752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8288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BEB1"/>
                </a:solidFill>
                <a:latin typeface="Aptos"/>
              </a:defRPr>
            </a:pPr>
            <a:r>
              <a:t>TRANSACTION BEHAVIOUR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2514600"/>
            <a:ext cx="205740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256032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Amount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3108960"/>
            <a:ext cx="205740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3154679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→ Amount Band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3703320"/>
            <a:ext cx="205740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3749039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→ Time / Weekday / Quarter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91"/>
                </a:solidFill>
                <a:latin typeface="Aptos"/>
              </a:defRPr>
            </a:pPr>
            <a:r>
              <a:t>AGE GROUPS CREATED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85232"/>
            <a:ext cx="161665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63442"/>
                </a:solidFill>
                <a:latin typeface="Aptos"/>
              </a:defRPr>
            </a:pPr>
            <a:r>
              <a:t>Middle Aged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48179" y="5340096"/>
            <a:ext cx="2520086" cy="119443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15814" y="5285232"/>
            <a:ext cx="57058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0C1F37"/>
                </a:solidFill>
                <a:latin typeface="Aptos"/>
              </a:defRPr>
            </a:pPr>
            <a:r>
              <a:t>354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02402"/>
            <a:ext cx="161665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63442"/>
                </a:solidFill>
                <a:latin typeface="Aptos"/>
              </a:defRPr>
            </a:pPr>
            <a:r>
              <a:t>Seniors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48179" y="5557266"/>
            <a:ext cx="1786840" cy="119443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5814" y="5502402"/>
            <a:ext cx="57058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0C1F37"/>
                </a:solidFill>
                <a:latin typeface="Aptos"/>
              </a:defRPr>
            </a:pPr>
            <a:r>
              <a:t>251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719572"/>
            <a:ext cx="161665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63442"/>
                </a:solidFill>
                <a:latin typeface="Aptos"/>
              </a:defRPr>
            </a:pPr>
            <a:r>
              <a:t>Older Adults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48179" y="5774436"/>
            <a:ext cx="1687176" cy="119443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15814" y="5719572"/>
            <a:ext cx="57058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0C1F37"/>
                </a:solidFill>
                <a:latin typeface="Aptos"/>
              </a:defRPr>
            </a:pPr>
            <a:r>
              <a:t>237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936742"/>
            <a:ext cx="161665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63442"/>
                </a:solidFill>
                <a:latin typeface="Aptos"/>
              </a:defRPr>
            </a:pPr>
            <a:r>
              <a:t>Young Adults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48179" y="5991605"/>
            <a:ext cx="1124784" cy="119443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15814" y="5936742"/>
            <a:ext cx="57058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0C1F37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4983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1F37"/>
                </a:solidFill>
                <a:latin typeface="Aptos"/>
              </a:defRPr>
            </a:pPr>
            <a:r>
              <a:t>Feature engineering makes the data usable for segmentation, relationship-value analysis and interactive Power BI slicing.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feature engineering workflow; age groups and customer-level balance derived in Python.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Customer Analytics: Who Drives Relationship Value?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Customer analysis combines demographics, geography, account relationships and aggregate balance.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91"/>
                </a:solidFill>
                <a:latin typeface="Aptos"/>
              </a:defRPr>
            </a:pPr>
            <a:r>
              <a:t>CUSTOMER MIX BY AGE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70992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442"/>
                </a:solidFill>
                <a:latin typeface="Aptos"/>
              </a:defRPr>
            </a:pPr>
            <a:r>
              <a:t>Middle Aged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1837943"/>
            <a:ext cx="2665476" cy="339471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11496" y="1783080"/>
            <a:ext cx="60350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C1F37"/>
                </a:solidFill>
                <a:latin typeface="Aptos"/>
              </a:defRPr>
            </a:pPr>
            <a:r>
              <a:t>354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00300"/>
            <a:ext cx="170992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442"/>
                </a:solidFill>
                <a:latin typeface="Aptos"/>
              </a:defRPr>
            </a:pPr>
            <a:r>
              <a:t>Seniors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2455164"/>
            <a:ext cx="1889927" cy="339471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1496" y="2400300"/>
            <a:ext cx="60350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C1F37"/>
                </a:solidFill>
                <a:latin typeface="Aptos"/>
              </a:defRPr>
            </a:pPr>
            <a:r>
              <a:t>251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170992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442"/>
                </a:solidFill>
                <a:latin typeface="Aptos"/>
              </a:defRPr>
            </a:pPr>
            <a:r>
              <a:t>Older Adults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5728" y="3072384"/>
            <a:ext cx="1784513" cy="339471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6" y="3017520"/>
            <a:ext cx="60350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C1F37"/>
                </a:solidFill>
                <a:latin typeface="Aptos"/>
              </a:defRPr>
            </a:pPr>
            <a:r>
              <a:t>237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34740"/>
            <a:ext cx="170992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442"/>
                </a:solidFill>
                <a:latin typeface="Aptos"/>
              </a:defRPr>
            </a:pPr>
            <a:r>
              <a:t>Young Adults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95728" y="3689604"/>
            <a:ext cx="1189675" cy="339471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1496" y="3634740"/>
            <a:ext cx="60350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C1F37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417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91"/>
                </a:solidFill>
                <a:latin typeface="Aptos"/>
              </a:defRPr>
            </a:pPr>
            <a:r>
              <a:t>TOP CUSTOMER 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783080"/>
            <a:ext cx="1709928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442"/>
                </a:solidFill>
                <a:latin typeface="Aptos"/>
              </a:defRPr>
            </a:pPr>
            <a:r>
              <a:t>Customer 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9248" y="1837943"/>
            <a:ext cx="2665450" cy="271576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15016" y="1783080"/>
            <a:ext cx="603503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C1F37"/>
                </a:solidFill>
                <a:latin typeface="Aptos"/>
              </a:defRPr>
            </a:pPr>
            <a:r>
              <a:t>$2.61M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276856"/>
            <a:ext cx="1709928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442"/>
                </a:solidFill>
                <a:latin typeface="Aptos"/>
              </a:defRPr>
            </a:pPr>
            <a:r>
              <a:t>Customer 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99248" y="2331720"/>
            <a:ext cx="2029774" cy="271576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15016" y="2276856"/>
            <a:ext cx="603503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C1F37"/>
                </a:solidFill>
                <a:latin typeface="Aptos"/>
              </a:defRPr>
            </a:pPr>
            <a:r>
              <a:t>$1.99M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770632"/>
            <a:ext cx="1709928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442"/>
                </a:solidFill>
                <a:latin typeface="Aptos"/>
              </a:defRPr>
            </a:pPr>
            <a:r>
              <a:t>Customer 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9248" y="2825496"/>
            <a:ext cx="1980280" cy="271576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5016" y="2770632"/>
            <a:ext cx="603503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C1F37"/>
                </a:solidFill>
                <a:latin typeface="Aptos"/>
              </a:defRPr>
            </a:pPr>
            <a:r>
              <a:t>$1.94M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264408"/>
            <a:ext cx="1709928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442"/>
                </a:solidFill>
                <a:latin typeface="Aptos"/>
              </a:defRPr>
            </a:pPr>
            <a:r>
              <a:t>Customer 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9248" y="3319272"/>
            <a:ext cx="1812981" cy="271576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15016" y="3264408"/>
            <a:ext cx="603503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C1F37"/>
                </a:solidFill>
                <a:latin typeface="Aptos"/>
              </a:defRPr>
            </a:pPr>
            <a:r>
              <a:t>$1.78M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758184"/>
            <a:ext cx="1709928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442"/>
                </a:solidFill>
                <a:latin typeface="Aptos"/>
              </a:defRPr>
            </a:pPr>
            <a:r>
              <a:t>Customer 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99248" y="3813048"/>
            <a:ext cx="1730386" cy="271576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15016" y="3758184"/>
            <a:ext cx="603503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C1F37"/>
                </a:solidFill>
                <a:latin typeface="Aptos"/>
              </a:defRPr>
            </a:pPr>
            <a:r>
              <a:t>$1.69M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617720"/>
            <a:ext cx="10332720" cy="1051560"/>
          </a:xfrm>
          <a:prstGeom prst="roundRect">
            <a:avLst/>
          </a:prstGeom>
          <a:solidFill>
            <a:srgbClr val="0C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8280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B91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473659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Middle Aged is the largest segment (35.4% of customers), while the top relationship exceeds $2.6M in total balance.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analysis notebook and project presentation; customer values anonymised for presentation.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Account &amp; Portfolio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The account layer connects product mix, balances, status and credit exposure.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514600" cy="10972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563624"/>
            <a:ext cx="73152" cy="804671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63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TOTAL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470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3,553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17320"/>
            <a:ext cx="2514600" cy="10972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38728" y="1563624"/>
            <a:ext cx="73152" cy="804671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1563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TOTAL 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18470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$332.13M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2514600" cy="10972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27648" y="1563624"/>
            <a:ext cx="73152" cy="804671"/>
          </a:xfrm>
          <a:prstGeom prst="roundRect">
            <a:avLst/>
          </a:prstGeom>
          <a:solidFill>
            <a:srgbClr val="2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563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CASA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8470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$258.96M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417320"/>
            <a:ext cx="2514600" cy="10972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16567" y="1563624"/>
            <a:ext cx="73152" cy="804671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7" y="1563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TD 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7" y="18470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$34.09M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91"/>
                </a:solidFill>
                <a:latin typeface="Aptos"/>
              </a:defRPr>
            </a:pPr>
            <a:r>
              <a:t>ACCOUNT STATUS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3291840"/>
            <a:ext cx="1417320" cy="1417320"/>
          </a:xfrm>
          <a:prstGeom prst="ellipse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4770" y="3603650"/>
            <a:ext cx="793699" cy="7936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162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1F37"/>
                </a:solidFill>
                <a:latin typeface="Aptos"/>
              </a:defRPr>
            </a:pPr>
            <a:r>
              <a:t>69.9%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520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C1F37"/>
                </a:solidFill>
                <a:latin typeface="Aptos"/>
              </a:defRPr>
            </a:pPr>
            <a:r>
              <a:t>2,484 active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886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2"/>
                </a:solidFill>
                <a:latin typeface="Aptos"/>
              </a:defRPr>
            </a:pPr>
            <a:r>
              <a:t>1,069 inactive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91"/>
                </a:solidFill>
                <a:latin typeface="Aptos"/>
              </a:defRPr>
            </a:pPr>
            <a:r>
              <a:t>BALANCE POOLS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246120"/>
            <a:ext cx="1865376" cy="45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3442"/>
                </a:solidFill>
                <a:latin typeface="Aptos"/>
              </a:defRPr>
            </a:pPr>
            <a:r>
              <a:t>CASA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03136" y="3300984"/>
            <a:ext cx="2907792" cy="310134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65792" y="3246120"/>
            <a:ext cx="658368" cy="45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$259M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809999"/>
            <a:ext cx="1865376" cy="45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3442"/>
                </a:solidFill>
                <a:latin typeface="Aptos"/>
              </a:defRPr>
            </a:pPr>
            <a:r>
              <a:t>TD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03136" y="3864863"/>
            <a:ext cx="382787" cy="310134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65792" y="3809999"/>
            <a:ext cx="658368" cy="45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$34M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373880"/>
            <a:ext cx="1865376" cy="45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3442"/>
                </a:solidFill>
                <a:latin typeface="Aptos"/>
              </a:defRPr>
            </a:pPr>
            <a:r>
              <a:t>Net Balance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03136" y="4428744"/>
            <a:ext cx="2851872" cy="310134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65792" y="4373880"/>
            <a:ext cx="658368" cy="45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$254M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257800"/>
            <a:ext cx="10287000" cy="685800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468112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1F37"/>
                </a:solidFill>
                <a:latin typeface="Aptos"/>
              </a:defRPr>
            </a:pPr>
            <a:r>
              <a:t>Management view: Deposits + account mix + credit exposure + interest rate + tenure.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supplied project presentation and Power BI documentation; monetary values shown are documented portfolio measures.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Credit &amp; Loan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Separating original loan amount from outstanding exposure creates a clearer repayment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46120" cy="13258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655063"/>
            <a:ext cx="73152" cy="1033271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655063"/>
            <a:ext cx="2834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ORIGINAL LOAN AMOUNT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938528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$76.77M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42032"/>
            <a:ext cx="2834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loan disbursement / original 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08760"/>
            <a:ext cx="3246120" cy="13258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1688" y="1655063"/>
            <a:ext cx="73152" cy="1033271"/>
          </a:xfrm>
          <a:prstGeom prst="roundRect">
            <a:avLst/>
          </a:prstGeom>
          <a:solidFill>
            <a:srgbClr val="CA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655063"/>
            <a:ext cx="2834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OUTSTANDING LOANS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38528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$39.07M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542032"/>
            <a:ext cx="2834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current credit exposure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246120" cy="13258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82127" y="1655063"/>
            <a:ext cx="73152" cy="1033271"/>
          </a:xfrm>
          <a:prstGeom prst="roundRect">
            <a:avLst/>
          </a:prstGeom>
          <a:solidFill>
            <a:srgbClr val="259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1655063"/>
            <a:ext cx="2834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PRINCIPAL REPAID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938528"/>
            <a:ext cx="2834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$37.69M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542032"/>
            <a:ext cx="2834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original minus outstanding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37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91"/>
                </a:solidFill>
                <a:latin typeface="Aptos"/>
              </a:defRPr>
            </a:pPr>
            <a:r>
              <a:t>CREDIT 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03320"/>
            <a:ext cx="1865376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3442"/>
                </a:solidFill>
                <a:latin typeface="Aptos"/>
              </a:defRPr>
            </a:pPr>
            <a:r>
              <a:t>Original loan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96896" y="3758183"/>
            <a:ext cx="2907792" cy="276606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9552" y="3703320"/>
            <a:ext cx="658368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$76.77M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06240"/>
            <a:ext cx="1865376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3442"/>
                </a:solidFill>
                <a:latin typeface="Aptos"/>
              </a:defRPr>
            </a:pPr>
            <a:r>
              <a:t>Outstanding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96896" y="4261103"/>
            <a:ext cx="1479841" cy="276606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9552" y="4206240"/>
            <a:ext cx="658368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$39.07M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09159"/>
            <a:ext cx="1865376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3442"/>
                </a:solidFill>
                <a:latin typeface="Aptos"/>
              </a:defRPr>
            </a:pPr>
            <a:r>
              <a:t>Repaid proxy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96896" y="4764023"/>
            <a:ext cx="1427571" cy="276606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9552" y="4709159"/>
            <a:ext cx="658368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$37.69M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337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91"/>
                </a:solidFill>
                <a:latin typeface="Aptos"/>
              </a:defRPr>
            </a:pPr>
            <a:r>
              <a:t>ADDITIONAL SEGMENTATION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3703320"/>
            <a:ext cx="3886200" cy="310896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749039"/>
            <a:ext cx="3886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Loan amount by age group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4142231"/>
            <a:ext cx="3886200" cy="310896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187951"/>
            <a:ext cx="3886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Loan amount vs interest rate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4581144"/>
            <a:ext cx="3886200" cy="310896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626864"/>
            <a:ext cx="3886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Interest-rate bands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5020056"/>
            <a:ext cx="3886200" cy="310896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065776"/>
            <a:ext cx="3886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Loan term / tenure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supplied project presentation and Power BI account-page documentation.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Transaction Analytics: Volume ≠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The transaction page is the highest-volume analytical layer and separates behaviour from monetary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91"/>
                </a:solidFill>
                <a:latin typeface="Aptos"/>
              </a:defRPr>
            </a:pPr>
            <a:r>
              <a:t>TRANSACTION 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C1F37"/>
                </a:solidFill>
                <a:latin typeface="Aptos"/>
              </a:defRPr>
            </a:pPr>
            <a:r>
              <a:t>2,377,169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2"/>
                </a:solidFill>
                <a:latin typeface="Aptos"/>
              </a:defRPr>
            </a:pPr>
            <a:r>
              <a:t>rows across 8 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17320"/>
            <a:ext cx="3154680" cy="987552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81728" y="1563624"/>
            <a:ext cx="73152" cy="694944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8" y="15636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184708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Credit vs Debit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154680" cy="987552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0727" y="1563624"/>
            <a:ext cx="73152" cy="694944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636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84708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Transaction value by channel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651760"/>
            <a:ext cx="3154680" cy="987552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81728" y="2798064"/>
            <a:ext cx="73152" cy="694944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27980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308152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Count over time + fiscal quarter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651760"/>
            <a:ext cx="3154680" cy="987552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0727" y="2798064"/>
            <a:ext cx="73152" cy="694944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27980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08152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Transaction volume by code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886200"/>
            <a:ext cx="3154680" cy="987552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81728" y="4032504"/>
            <a:ext cx="73152" cy="694944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40325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BAND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431596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Small / Medium / Large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886200"/>
            <a:ext cx="3154680" cy="987552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0727" y="4032504"/>
            <a:ext cx="73152" cy="694944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8" y="40325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WEEKDAY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431596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Transaction volume by weekday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257800"/>
            <a:ext cx="10698480" cy="685800"/>
          </a:xfrm>
          <a:prstGeom prst="roundRect">
            <a:avLst/>
          </a:prstGeom>
          <a:solidFill>
            <a:srgbClr val="0C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458968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 channel can have high transaction volume without having the highest monetary value — hence the dashboard analyses both.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PBIX documentation; exact channel and quarterly numeric totals were not invented where not extracted from the supplied PBIX.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Power BI — Customer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Customer segmentation, geography and relationship value in one interactive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4983480"/>
          </a:xfrm>
          <a:prstGeom prst="roundRect">
            <a:avLst/>
          </a:prstGeom>
          <a:solidFill>
            <a:srgbClr val="FAFCFD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1F37"/>
                </a:solidFill>
                <a:latin typeface="Aptos"/>
              </a:defRPr>
            </a:pPr>
            <a:r>
              <a:t>CUSTOMER  |  RELATIONSHIP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2240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112264"/>
            <a:ext cx="73152" cy="576071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1122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9572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965960"/>
            <a:ext cx="2240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47288" y="2112264"/>
            <a:ext cx="73152" cy="576071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1122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Total Net 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39572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$253.98M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965960"/>
            <a:ext cx="2240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61888" y="2112264"/>
            <a:ext cx="73152" cy="576071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1122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Avg Net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39572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Portfolio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2"/>
                </a:solidFill>
                <a:latin typeface="Aptos"/>
              </a:defRPr>
            </a:pPr>
            <a:r>
              <a:t>AGE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74720"/>
            <a:ext cx="1430121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3442"/>
                </a:solidFill>
                <a:latin typeface="Aptos"/>
              </a:defRPr>
            </a:pPr>
            <a:r>
              <a:t>Middle Aged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53081" y="3529584"/>
            <a:ext cx="2229307" cy="207454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4451" y="3474720"/>
            <a:ext cx="5047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0C1F37"/>
                </a:solidFill>
                <a:latin typeface="Aptos"/>
              </a:defRPr>
            </a:pPr>
            <a:r>
              <a:t>354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51909"/>
            <a:ext cx="1430121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3442"/>
                </a:solidFill>
                <a:latin typeface="Aptos"/>
              </a:defRPr>
            </a:pPr>
            <a:r>
              <a:t>Seniors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53081" y="3906773"/>
            <a:ext cx="1580666" cy="207454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4451" y="3851909"/>
            <a:ext cx="5047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0C1F37"/>
                </a:solidFill>
                <a:latin typeface="Aptos"/>
              </a:defRPr>
            </a:pPr>
            <a:r>
              <a:t>251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29100"/>
            <a:ext cx="1430121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3442"/>
                </a:solidFill>
                <a:latin typeface="Aptos"/>
              </a:defRPr>
            </a:pPr>
            <a:r>
              <a:t>Older Adults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53081" y="4283964"/>
            <a:ext cx="1492502" cy="207454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4451" y="4229100"/>
            <a:ext cx="5047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0C1F37"/>
                </a:solidFill>
                <a:latin typeface="Aptos"/>
              </a:defRPr>
            </a:pPr>
            <a:r>
              <a:t>237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606290"/>
            <a:ext cx="1430121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3442"/>
                </a:solidFill>
                <a:latin typeface="Aptos"/>
              </a:defRPr>
            </a:pPr>
            <a:r>
              <a:t>Young Adults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53081" y="4661153"/>
            <a:ext cx="995001" cy="207454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4451" y="4606290"/>
            <a:ext cx="5047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0C1F37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2"/>
                </a:solidFill>
                <a:latin typeface="Aptos"/>
              </a:defRPr>
            </a:pPr>
            <a:r>
              <a:t>TOP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3474720"/>
            <a:ext cx="963777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344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13017" y="3529584"/>
            <a:ext cx="1502359" cy="207454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3723" y="3474720"/>
            <a:ext cx="3401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0C1F37"/>
                </a:solidFill>
                <a:latin typeface="Aptos"/>
              </a:defRPr>
            </a:pPr>
            <a:r>
              <a:t>$2.6M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3851909"/>
            <a:ext cx="963777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344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13017" y="3906773"/>
            <a:ext cx="1145476" cy="207454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3723" y="3851909"/>
            <a:ext cx="3401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0C1F37"/>
                </a:solidFill>
                <a:latin typeface="Aptos"/>
              </a:defRPr>
            </a:pPr>
            <a:r>
              <a:t>$2.0M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4229100"/>
            <a:ext cx="963777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344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13017" y="4283964"/>
            <a:ext cx="1116696" cy="207454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43723" y="4229100"/>
            <a:ext cx="3401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0C1F37"/>
                </a:solidFill>
                <a:latin typeface="Aptos"/>
              </a:defRPr>
            </a:pPr>
            <a:r>
              <a:t>$1.9M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4606290"/>
            <a:ext cx="963777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344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13017" y="4661153"/>
            <a:ext cx="1024597" cy="207454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43723" y="4606290"/>
            <a:ext cx="3401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0C1F37"/>
                </a:solidFill>
                <a:latin typeface="Aptos"/>
              </a:defRPr>
            </a:pPr>
            <a:r>
              <a:t>$1.8M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2"/>
                </a:solidFill>
                <a:latin typeface="Aptos"/>
              </a:defRPr>
            </a:pPr>
            <a:r>
              <a:t>GEOGRAPHY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9640" y="3493008"/>
            <a:ext cx="210312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9640" y="3538727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State / City visual 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49640" y="3822191"/>
            <a:ext cx="210312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3867911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State / City visual 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49640" y="4151376"/>
            <a:ext cx="210312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9640" y="419709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State / City visual 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49640" y="4480560"/>
            <a:ext cx="210312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45262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State / City visual 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49640" y="4809744"/>
            <a:ext cx="210312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49640" y="485546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State / City visual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" y="56235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C1F37"/>
                </a:solidFill>
                <a:latin typeface="Aptos"/>
              </a:defRPr>
            </a:pPr>
            <a:r>
              <a:t>Python identified the analytical dimensions; Power BI operationalises them through segmentation, geography and value.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Dashboard view recreated from the supplied PBIX visual inventory; use actual PBIX screenshot here if presenting the live report.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Power BI — Account &amp; Transaction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Two domain pages turn the model into portfolio and behavioural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480060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1F37"/>
                </a:solidFill>
                <a:latin typeface="Aptos"/>
              </a:defRPr>
            </a:pPr>
            <a:r>
              <a:t>ACCOUNT  |  PORTFOLIO + CREDIT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0312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2249424"/>
            <a:ext cx="73152" cy="530352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24942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532887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$258.96M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10312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24328" y="2249424"/>
            <a:ext cx="73152" cy="530352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8" y="224942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532887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$34.09M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210312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24528" y="2249424"/>
            <a:ext cx="73152" cy="530352"/>
          </a:xfrm>
          <a:prstGeom prst="roundRect">
            <a:avLst/>
          </a:prstGeom>
          <a:solidFill>
            <a:srgbClr val="CA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224942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Loans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532887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$39.07M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246120"/>
            <a:ext cx="21488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291839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Account type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749039"/>
            <a:ext cx="21488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94759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Account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251960"/>
            <a:ext cx="21488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9768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Loan by age group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246120"/>
            <a:ext cx="21488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291839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Balance by account 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749039"/>
            <a:ext cx="21488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794759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Rate / tenure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371600"/>
            <a:ext cx="5303520" cy="480060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1F37"/>
                </a:solidFill>
                <a:latin typeface="Aptos"/>
              </a:defRPr>
            </a:pPr>
            <a:r>
              <a:t>TRANSACTION  |  VOLUME + VALUE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210312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01968" y="2249424"/>
            <a:ext cx="73152" cy="530352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224942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2532887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2.377M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3246120"/>
            <a:ext cx="21488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291839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Credit vs Debit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3246120"/>
            <a:ext cx="21488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3291839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Channel value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3749039"/>
            <a:ext cx="21488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794759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Count over time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15400" y="3749039"/>
            <a:ext cx="21488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15400" y="3794759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Transaction codes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4251960"/>
            <a:ext cx="21488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29768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Amount bands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15400" y="4251960"/>
            <a:ext cx="21488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15400" y="429768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Weekday volume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Dashboard architecture based on the supplied PBIX; exact unsupported chart totals are intentionally not fabricated.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EXECUTIVE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Power BI — Final Executive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The management layer consolidates customer, account and transaction signals with interactive slicers.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51460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563624"/>
            <a:ext cx="73152" cy="576071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63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CUSTOMER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470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17320"/>
            <a:ext cx="251460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38728" y="1563624"/>
            <a:ext cx="73152" cy="576071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1563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NO. OF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18470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3,553*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251460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27648" y="1563624"/>
            <a:ext cx="73152" cy="576071"/>
          </a:xfrm>
          <a:prstGeom prst="roundRect">
            <a:avLst/>
          </a:prstGeom>
          <a:solidFill>
            <a:srgbClr val="29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563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NET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8470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$253.98M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417320"/>
            <a:ext cx="251460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16567" y="1563624"/>
            <a:ext cx="73152" cy="576071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7" y="1563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TRANSACTION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7" y="18470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2.377M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514600"/>
            <a:ext cx="251460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2660904"/>
            <a:ext cx="73152" cy="576071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26609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CASA 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94436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$258.96M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2514600"/>
            <a:ext cx="251460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38728" y="2660904"/>
            <a:ext cx="73152" cy="576071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6609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TD BALANCE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294436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$34.09M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514600"/>
            <a:ext cx="251460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27648" y="2660904"/>
            <a:ext cx="73152" cy="576071"/>
          </a:xfrm>
          <a:prstGeom prst="roundRect">
            <a:avLst/>
          </a:prstGeom>
          <a:solidFill>
            <a:srgbClr val="CA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26609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LOAN DISBURSEMENTS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294436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$76.77M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39" y="2514600"/>
            <a:ext cx="251460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16567" y="2660904"/>
            <a:ext cx="73152" cy="576071"/>
          </a:xfrm>
          <a:prstGeom prst="roundRect">
            <a:avLst/>
          </a:prstGeom>
          <a:solidFill>
            <a:srgbClr val="E1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9447" y="26609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OUTSTANDING LOANS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7" y="294436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$39.07M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794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B91"/>
                </a:solidFill>
                <a:latin typeface="Aptos"/>
              </a:defRPr>
            </a:pPr>
            <a:r>
              <a:t>FILTERS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08760" y="3730752"/>
            <a:ext cx="12344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377647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Channel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0" y="3730752"/>
            <a:ext cx="12344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26080" y="377647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Account Type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3730752"/>
            <a:ext cx="12344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377647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3730752"/>
            <a:ext cx="12344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377647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State / City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78040" y="3730752"/>
            <a:ext cx="12344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78040" y="377647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Age Group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0" y="3730752"/>
            <a:ext cx="12344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77647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Date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12680" y="3730752"/>
            <a:ext cx="123444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12680" y="377647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C1F37"/>
                </a:solidFill>
                <a:latin typeface="Aptos"/>
              </a:defRPr>
            </a:pPr>
            <a:r>
              <a:t>Txn Type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" y="443484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95528" y="4581144"/>
            <a:ext cx="73152" cy="667512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408" y="45811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Top 10 Customers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" y="4864607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visual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80360" y="443484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990088" y="4581144"/>
            <a:ext cx="73152" cy="667512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72968" y="45811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Net Balance by 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72968" y="4864607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visual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4920" y="443484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184648" y="4581144"/>
            <a:ext cx="73152" cy="667512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67528" y="45811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Account Status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67528" y="4864607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visual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69479" y="443484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379207" y="4581144"/>
            <a:ext cx="73152" cy="667512"/>
          </a:xfrm>
          <a:prstGeom prst="roundRect">
            <a:avLst/>
          </a:prstGeom>
          <a:solidFill>
            <a:srgbClr val="36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62088" y="45811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Quarterly Txn Value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62088" y="4864607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visual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64040" y="443484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573767" y="4581144"/>
            <a:ext cx="73152" cy="667512"/>
          </a:xfrm>
          <a:prstGeom prst="round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56648" y="45811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2"/>
                </a:solidFill>
                <a:latin typeface="Aptos"/>
              </a:defRPr>
            </a:pPr>
            <a:r>
              <a:t>Txn Volume by Band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56648" y="4864607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1F37"/>
                </a:solidFill>
                <a:latin typeface="Aptos"/>
              </a:defRPr>
            </a:pPr>
            <a:r>
              <a:t>visual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2"/>
                </a:solidFill>
                <a:latin typeface="Aptos"/>
              </a:defRPr>
            </a:pPr>
            <a:r>
              <a:t>*Current PBIX 'NO. OF ACCOUNTS' counts account_id from the transaction fact; DISTINCTCOUNT(bank_accounts_cleaned[account_id]) is recommended.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supplied PBIX documentation; KPI governance note retained for transparency.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9B91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1F37"/>
                </a:solidFill>
                <a:latin typeface="Aptos Display"/>
              </a:defRPr>
            </a:pPr>
            <a:r>
              <a:t>Key Business Insights — So What?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The value of the project is what the analysis enables the business to see and act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B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075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1F37"/>
                </a:solidFill>
                <a:latin typeface="Aptos"/>
              </a:defRPr>
            </a:pPr>
            <a:r>
              <a:t>Customer concentration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280160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442"/>
                </a:solidFill>
                <a:latin typeface="Aptos"/>
              </a:defRPr>
            </a:pPr>
            <a:r>
              <a:t>Middle Aged is the largest customer segment: 354 of 1,000 customers (35.4%).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67712"/>
            <a:ext cx="50292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134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674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94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1F37"/>
                </a:solidFill>
                <a:latin typeface="Aptos"/>
              </a:defRPr>
            </a:pPr>
            <a:r>
              <a:t>Relationship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221992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442"/>
                </a:solidFill>
                <a:latin typeface="Aptos"/>
              </a:defRPr>
            </a:pPr>
            <a:r>
              <a:t>The highest customer relationship exceeds $2.6M in aggregate balance.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09544"/>
            <a:ext cx="50292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55263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BE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1912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1F37"/>
                </a:solidFill>
                <a:latin typeface="Aptos"/>
              </a:defRPr>
            </a:pPr>
            <a:r>
              <a:t>Portfolio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163824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442"/>
                </a:solidFill>
                <a:latin typeface="Aptos"/>
              </a:defRPr>
            </a:pPr>
            <a:r>
              <a:t>Savings / CASA is the dominant balance pool at $258.96M.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51376"/>
            <a:ext cx="50292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A535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33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1F37"/>
                </a:solidFill>
                <a:latin typeface="Aptos"/>
              </a:defRPr>
            </a:pPr>
            <a:r>
              <a:t>Credit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105656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442"/>
                </a:solidFill>
                <a:latin typeface="Aptos"/>
              </a:defRPr>
            </a:pPr>
            <a:r>
              <a:t>Original loan amount of $76.77M is separated from $39.07M outstanding exposure.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93208"/>
            <a:ext cx="502920" cy="310896"/>
          </a:xfrm>
          <a:prstGeom prst="roundRect">
            <a:avLst/>
          </a:prstGeom>
          <a:solidFill>
            <a:srgbClr val="E0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389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1A04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1F37"/>
                </a:solidFill>
                <a:latin typeface="Aptos"/>
              </a:defRPr>
            </a:pPr>
            <a:r>
              <a:t>Transaction behaviour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047488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442"/>
                </a:solidFill>
                <a:latin typeface="Aptos"/>
              </a:defRPr>
            </a:pPr>
            <a:r>
              <a:t>The model separates transaction volume from monetary value across channel, code, time and amount band.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2"/>
                </a:solidFill>
                <a:latin typeface="Aptos"/>
              </a:defRPr>
            </a:pPr>
            <a:r>
              <a:t>Source: supplied analysis results and PBIX documentation; insights use only documented measures and findings.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2881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1F37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0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91"/>
                </a:solidFill>
                <a:latin typeface="Aptos"/>
              </a:defRPr>
            </a:pPr>
            <a:r>
              <a:t>FROM ANALYSIS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t>What should the business do differently?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438912" cy="310896"/>
          </a:xfrm>
          <a:prstGeom prst="roundRect">
            <a:avLst/>
          </a:prstGeom>
          <a:solidFill>
            <a:srgbClr val="1F4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20239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B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56231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Protect high-value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837943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2E0EB"/>
                </a:solidFill>
                <a:latin typeface="Aptos"/>
              </a:defRPr>
            </a:pPr>
            <a:r>
              <a:t>Target high-balance and multi-account customers for retention and cross-sell.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32887"/>
            <a:ext cx="438912" cy="310896"/>
          </a:xfrm>
          <a:prstGeom prst="roundRect">
            <a:avLst/>
          </a:prstGeom>
          <a:solidFill>
            <a:srgbClr val="1F4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7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B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1459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Segment the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96311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2E0EB"/>
                </a:solidFill>
                <a:latin typeface="Aptos"/>
              </a:defRPr>
            </a:pPr>
            <a:r>
              <a:t>Use age and relationship value to differentiate customer offers.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191256"/>
            <a:ext cx="438912" cy="310896"/>
          </a:xfrm>
          <a:prstGeom prst="roundRect">
            <a:avLst/>
          </a:prstGeom>
          <a:solidFill>
            <a:srgbClr val="1F4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236975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B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1729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Monitor funding + credit 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15467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2E0EB"/>
                </a:solidFill>
                <a:latin typeface="Aptos"/>
              </a:defRPr>
            </a:pPr>
            <a:r>
              <a:t>Track CASA, TD and loan exposure as one portfolio 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849624"/>
            <a:ext cx="438912" cy="310896"/>
          </a:xfrm>
          <a:prstGeom prst="roundRect">
            <a:avLst/>
          </a:prstGeom>
          <a:solidFill>
            <a:srgbClr val="1F4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895344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B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3133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Optimise transaction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81304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2E0EB"/>
                </a:solidFill>
                <a:latin typeface="Aptos"/>
              </a:defRPr>
            </a:pPr>
            <a:r>
              <a:t>Use volume/value differences to guide channel strategy and digital adoption.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507992"/>
            <a:ext cx="438912" cy="310896"/>
          </a:xfrm>
          <a:prstGeom prst="roundRect">
            <a:avLst/>
          </a:prstGeom>
          <a:solidFill>
            <a:srgbClr val="1F4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55371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9B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48970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Operationalise data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47141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2E0EB"/>
                </a:solidFill>
                <a:latin typeface="Aptos"/>
              </a:defRPr>
            </a:pPr>
            <a:r>
              <a:t>Automate reference, date, duplicate and monetary-rule checks upstream.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86400"/>
            <a:ext cx="10789920" cy="731520"/>
          </a:xfrm>
          <a:prstGeom prst="roundRect">
            <a:avLst/>
          </a:prstGeom>
          <a:solidFill>
            <a:srgbClr val="14304F"/>
          </a:solidFill>
          <a:ln>
            <a:solidFill>
              <a:srgbClr val="2C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8756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DATA  →  PYTHON  →  ANALYSIS  →  POWER BI  →  INSIGHTS  →  DECISION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C2D4"/>
                </a:solidFill>
                <a:latin typeface="Aptos"/>
              </a:defRPr>
            </a:pPr>
            <a:r>
              <a:t>Retail Banking Transaction Analytics  |  Sujal Bansal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